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Buenos días Andrea y equipo directivo de Formatex. Hoy les presentamos la planeación maestra del proyecto WMS 360+. Hemos estructurado una hoja de ruta de 6 meses dividida en dos etapas: 3 meses para revalidar y construir el sistema a la medida con sus áreas clave, y 3 meses para implementarlo en su bodega real en Nave Atlas bajo una metodología de 'Cero Paros'.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Cualquier consultor tradicional intentaría venderles SAP o un sistema rígido que exige cerrar las puertas 4 días para contar cajas. En telas eso es imposible: ustedes no pueden parar sus ventas y la mercancía es continua. El WMS 360+ fue concebido desde el día uno para resolver la genealogía del rollo, las mesas de corte con enrolladoras y la realidad física de su Nave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su total tranquilidad, nuestro equipo técnico tomó la decisión de adelantarse y construir previamente un prototipo visual interactivo. Queríamos estar 100% seguros de que podíamos resolver cada reto técnico que nos plantearon. Esto para ustedes significa una enorme ventaja: nuestras reuniones no serán teóricas; nos sentaremos con sus jefes de área a mostrarles pantallas vivas y ajustar el WMS a su operación exacta.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proyecto tiene una duración total de 6 meses. Los primeros 3 meses nos enfocamos en el software y las áreas operativas: videollamadas con 5 departamentos y programación completa de la plataforma. Los siguientes 3 meses llevamos el sistema a la bodega real: acondicionamos Nave Atlas, capacitamos operadores, corremos pruebas piloto y salimos a producción definitiva.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terminar el mes 3, el sistema WMS Core estará 100% construido y probado en laboratorio. La base de datos, las 36 tablas, la PWA en Zebra y la integración fiscal estarán listas para pasar a la fase de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las primeras 3 semanas nos entrevistaremos con sus 5 líderes de departamento. No les quitaremos días enteros; serán sesiones puntuales de 75 a 90 minutos donde les pondremos en pantalla el prototipo y les diremos: 'Así pensamos tu pantalla de recepción, así se ve el corte de lino, así timbramos la factura'. De cada sesión saldrá un acta formal de acuerdos.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almacén validaremos cómo sus cortadores usan las mesas mecánicas 2, 3 y 5, y cómo los montacarguistas bajan stock de los niveles 3 al 6. Con ATC definiremos las reglas de oro: evitar retazos huérfanos de 2 o 3 metros que nadie compra, y cómo apartar stock sin crear disputas entre vendedores.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facturación garantizamos que el CFDI 4.0 refleje los metros exactos cortados, evitando cancelaciones de facturas. En compras conectamos los contenedores que vienen en barco. Y con planeación afinamos el motor de resurtido para que el sistema les diga exactamente qué rollos comprar antes de que se agoten.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bloque 2 es donde la magia ocurre en el piso de la bodega. No vamos a improvisar. Primero equipamos Nave Atlas, luego capacitamos a su gente, después arrancamos en frío con mercancía nueva, y finalmente absorbemos el inventario viejo hasta que el 100% de la bodega esté digitalizado.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clave por la que nuestro proyecto es seguro: Formatex NO se detiene un solo minuto. Las ventas y despachos continúan al 100%. Convivimos entre una Zona Gris de transición y una Zona Blanca controlada por el WMS, hasta que en pocas semanas toda la bodega queda operando con escaneo digital.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Respetamos la infraestructura que Formatex ya tiene. No venimos a cambiarles sus pasillos ni a inventar nombres raros. Adoptamos su nomenclatura existente, colocamos etiquetas térmicas industriales resistentes al polvo textil y dejamos a sus operadores armados con terminales Zebra TC22 de uso rudo.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pase a producción no se basa en opiniones; se basa en hechos. Ejecutaremos estos 10 casos de prueba con sus usuarios clave. Cuando cada área firme su escenario de prueba conforme a los criterios esperados, declaramos formalmente el Go-Live.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éxito de un WMS es 50% tecnología y 50% adopción humana. Nosotros garantizamos que la tecnología será impecable y robusta. Necesitamos de ustedes el compromiso de que sus 5 líderes asistan a las entrevistas y que designemos a un operador líder que sea nuestro campeón en piso.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Nuestra estructura de cobro está alineada estrictamente al SOW. Ustedes no pagan por promesas; pagan por entregables concretos verificados. El anticipo pone en marcha el equipo; la consultoría se liquida cuando entregamos las actas de las 5 áreas; el software core se paga cuando lo ven funcionando; la preparación de bodega cubre el despliegue en Nave Atlas; y el finiquito se paga únicamente cuando el WMS está en vivo y ustedes firman el acta de satisfacción.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Estamos listos para empezar hoy mismo. En cuanto formalicemos el SOW y el anticipo, enviamos las invitaciones de calendario para las primeras entrevistas. Tenemos todo preparado para hacer de este WMS el pilar de crecimiento y orden operativo de Formatex en Guadalajara. ¿Tienen alguna duda o comentario?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WMS 360+ FORMATEX</a:t>
            </a:r>
          </a:p>
          <a:p>
            <a:pPr>
              <a:spcBef>
                <a:spcPts val="1200"/>
              </a:spcBef>
              <a:defRPr sz="1800">
                <a:solidFill>
                  <a:srgbClr val="3B82F6"/>
                </a:solidFill>
                <a:latin typeface="Arial"/>
              </a:defRPr>
            </a:pPr>
            <a:r>
              <a:t>Plan Maestro de Proyecto: Revalidación Funcional, Desarrollo e Implementación en Nave Atlas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Estrategia de 6 Meses (24 Semanas) | Metodología Cero Paros (Zona Blanca vs Zona Gris)</a:t>
            </a:r>
          </a:p>
          <a:p>
            <a:pPr>
              <a:spcBef>
                <a:spcPts val="30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Cliente: FORMA TEXTIL S. DE R.L. DE C.V.  |  Consultoría: MOVIDA TCI LLC (Jonathan Palacios)</a:t>
            </a:r>
            <a:br/>
            <a:r>
              <a:t>Contraparte: Andrea / Equipo Directivo Formatex  |  Código SOW: MOV-WMS360-Formatex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¿Por Qué un WMS Tradicional de Estantería Falla en Telas?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La naturaleza física del rollo y la operación de Formatex requieren un sistema hecho a la medida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📦 WMS Genérico / Abarrotes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Producto discreto y uniforme (cajas selladas, pallets homogéneos).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Códigos de barras estándar EAN/UPC de fabricante.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Inventarios estáticos: se cuenta una caja y no cambia su metraje.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Implementación 'Big Bang': Exige cerrar la bodega de 3 a 5 días para conteo inicial.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No existe el concepto de retazos vivos ni árboles genealógicos de corte.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🧵 WMS 360+ Formatex (Especializado)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Producto continuo y variable: rollos con metrajes reales (48.5m, 51.2m, 63m).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Etiquetado térmico propio con Unidades de Manipulación (HU).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Árbol de corte: rollo padre de 60m genera pedido de 25m + retazo hijo de 35m vivo.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Nave Atlas: Zonificación vertical (Niveles 1-2 picking a pie vs 3-6 altura montacargas).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Metodología Cero Paros: Convivencia de Zona Blanca y Zona Gris sin parar ventas.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Mitigación de Riesgos: Nuestro Prototipo Visual Interactivo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Nos anticipamos para garantizar la viabilidad técnica antes de comprometer su inversión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🚀 Iniciativa Proactiva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Movida TCI desarrolló previamente un prototipo funcional interactivo.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Permitió validar que los flujos complejos sí son viables técnicamente.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Mitiga 100% el riesgo de invertir a ciegas.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🎯 Cero Supuestos Teóricos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Las entrevistas no serán interrogatorios sobre papel.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Cada área interactuará con pantallas reales del WMS.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Validación directa de mesas de corte, recepción y CFDI 4.0.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⚡ Aceleración &amp; Cero Retrabajos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Al tener validada la experiencia visual, el desarrollo avanza con precisión quirúrgica.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Reducción total de fricciones entre almacén y sistemas.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Entrega en tiempos récord sin sobrecostos.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Arquitectura del Cronograma: Dos Grandes Bloques de 3 Meses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24 Semanas continuas para una adopción segura, controlada y sin estrés operativo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🔹 BLOQUE 1: Meses 1 a 3 (Semanas 01 a 12)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Revalidación Funcional con 5 áreas clave vía videollamada.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Afinación de reglas sobre el prototipo interactivo.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Arquitectura de Software: Backend NestJS (15 mod) y Frontend React.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Base de Datos PostgreSQL/Supabase (36 modelos de datos).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PWA Móvil para terminales Zebra TC22 de bodega.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Mesas de Corte con Enrolladoras mecánicas y timbrado CFDI 4.0.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Entregable: WMS Core 100% funcional probado en laboratorio.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🟢 BLOQUE 2: Meses 4 a 6 (Semanas 13 a 24)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Adecuación en Nave Atlas: Cobertura Wi-Fi, Zebra TC22 e impresoras.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Rotulación de pasillos, racks y niveles 1 al 6.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Migración de Catálogos e Histórico de 13 meses CONTPAQi.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Arranque en Frío Cero Paros (Zona Blanca vs Zona Gris).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Capacitación en piso a operadores y personal administrativo.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Operación Piloto en Vivo con pedidos y compras reales.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Pruebas UAT formales, Go-Live 100% y periodo de Hypercare.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Bloque 1: Desarrollo y Afinación de Código WMS (Meses 1 a 3)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Construcción modular de la plataforma de ingeniería de software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📅 Mes 1: Semanas 01 a 04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Kickoff y 5 Entrevistas por videollamada.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Actas de revalidación aprobadas.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Entornos Cloud (Supabase, Render, Vercel).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Catálogos Maestros (SKUs, telas, colores, libros muestrarios).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📅 Mes 2: Semanas 05 a 08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Módulo de Compras y Seguimiento de Tránsito.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Recepción de Rollos y etiquetas térmicas HU.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Calidad de Rollos: Calificación A-D y bloqueo.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PWA para Zebra TC22 y Slotting Nave Atlas.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📅 Mes 3: Semanas 09 a 12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Motor de Reservas para ATC (sin sobreventa).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Surtido por Carro ('burros') y Batch Picking.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Mesas de Corte (2, 3, 5) y genealogía de retazos.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Timbrado CFDI 4.0 con CSFacturación.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Motor de Resurtido Formatex Master.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Programa de Entrevistas por Videollamada (Semanas 1 a 3)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5 sesiones ejecutivas de 60 a 90 minutos para revalidar la operación sobre el prototipo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3840480"/>
                <a:gridCol w="3200400"/>
              </a:tblGrid>
              <a:tr h="7010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Área / Sesión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Plazo / Duración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Foco de Revalidación en Prototipo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Entregable / Acta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1. Almacén y Nave Atlas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Semanas 1-2 (90 min)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PWA Zebra TC22, recepción HU, slotting niveles 1-6, mesas de corte enrolladoras y batch picking.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Acta de Almacén y Reglas de Corte.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2. ATC (Ventas)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Semana 2 (75 min)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Buscador de stock real, reservas suaves/firmes, tolerancia de metraje y catálogo de libros.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Acta de Reservas y Tolerancias.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3. Cobranza y Facturación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Semana 2 (75 min)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Momento de timbrado CFDI 4.0 (post-corte), API CSFacturación, remisiones vs facturas y crédito.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Flujograma Fiscal y Reglas de Crédito.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4. Compras y Tránsito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Semana 3 (75 min)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OC importación, tracking contenedores en tránsito y cotejo físico vs factura proveedor.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Protocolo de Tránsito y Recepción.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5. Planeación y Resurtido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Semana 3 (75 min)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Motor Formatex Master (S+P+T vs 4M x 4.5), 13 meses CONTPAQi y clasificación básicas vs moda.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Especificación Paramétrica Resurtido.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Foco de Entrevistas: Almacén y Atención a Clientes (ATC)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Garantizando la armonía entre la promesa comercial y la física de la bodega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📦 Almacén y Nave Atlas (Sesión 1)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Cotejo en Recepción: Metraje real vs etiqueta proveedor.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Calidades de Rollos: Criterios para A, B, C, D y restricción de rollos con tara.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Zonificación Vertical: Niveles 1-2 picking a pie vs 3-6 altura montacargas.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Mesas de Corte con Enrolladoras: Operación en Mesas 2, 3, 5 y pantalla de corte.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Carros Rodantes ('Burros'): Organización de batch picking multizona.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Convivencia: Aprobación de Zona Blanca (WMS) vs Zona Gris inicial.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💬 ATC y Ventas (Sesión 2)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Reglas de Reserva: ¿Rollo completo o metros exactos? Tiempo de vigencia de reserva.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Tolerancia de Corte: ¿Qué hacer si piden 50m y el rollo mide 53m? (Evitar merma).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Calidades Especiales: Autorización a ATC para vender rollos B o C con descuento.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Catálogo de Muestrarios (Libros): Control de préstamo y descuento de metraje.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Visibilidad en Piso: Monitoreo de estatus del pedido sin interrumpir al cortador.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Foco de Entrevistas: Facturación, Compras y Planeación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Cierre fiscal preciso, visibilidad de barcos y compras inteligentes automatizadas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🧾 Cobranza y Facturación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Momento de Timbrado: Se timbra post-corte con el metraje exacto despachado.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Integración CSFacturación / Facturapi: Conexión REST nativa sin servidores Windows.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Remisiones vs Facturas directas y bloqueos automáticos por crédito vencido.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🚢 Compras y Tránsito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Contenedores en Tránsito: Registro de barcos/aduanas para alimentar el resurtido.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Conciliación de Mermas: Procedimiento cuando el proveedor factura más metros de los que llegan.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Catálogo unificado de telas y colores comerciales.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📈 Planeación y Resurtido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Fórmula Formatex Master: S (Stock) + P (OC) + T (Tránsito) vs 4 Meses x Rotación 4.5.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Ingesta CONTPAQi: Procesamiento de 13 meses de ventas para cálculo de estacionalidad.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Separación de telas básicas continuas vs telas de temporada/moda.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Bloque 2: Bodega Nave Atlas, Pruebas y Go-Live (Meses 4 a 6)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Llevando la tecnología al piso de operaciones con cero disrupción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📅 Mes 4: Semanas 13 a 16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Auditoría Wi-Fi y rollout de Zebra TC22.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Rotulación física de racks (Niveles 1 al 6).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Carga masiva de catálogos e histórico CONTPAQi.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Pruebas integrales en ambiente Sandbox.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📅 Mes 5: Semanas 17 a 20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Delimitación Zona Blanca vs Zona Gris.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Capacitación en piso a cortadores y operadores.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100% de compras nuevas recibidas con WMS.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Surtido de pedidos reales asistido por escáner.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📅 Mes 6: Semanas 21 a 24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Ejecución de Pruebas de Aceptación (UAT).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Absorción final de inventario a Zona Blanca.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Go-Live Oficial al 100% (cierre de Zona Gris).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Hypercare post-arranque y firma de acta.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Metodología Cero Paros: Convivencia Zona Blanca vs. Zona Gris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La bodega física y el WMS conviven armónicamente para nunca detener las ventas de Formatex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🏢 ZONA GRIS (Operación Tradicional)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Inventario previo al arranque formal.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Saldo global controlado en inventario de transición.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Despacho por conocimiento empírico tradicional.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Cero fricción y cero paros en ventas desde el día uno.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📉 SU VOLUMEN DISMINUYE DIARIAMENTE con cada pedido despachado.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✨ ZONA BLANCA (WMS 360+ Controlado)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Racks rotulados (Pasillos 1-2, Racks 4-6, Niveles 1-6).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Rollos con etiqueta térmica HU escaneable.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El 100% de nuevas compras entra directamente aquí.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Surtido asistido por escáner Zebra TC22.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📈 SU VOLUMEN CRECE HASTA ABSORBER EL 100% DE LA BODEGA.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Adecuación Física y Tecnología en Nave Atlas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Respeto absoluto a las instalaciones reales observadas en la inspección visual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📶 Red &amp; Movilidad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Auditoría de cobertura Wi-Fi en pasillos de altura.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Terminales móviles industriales Zebra TC22.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PWA responsive y ergonómica con escáner láser.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🏷️ Racks &amp; Señalética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Respeto a rótulos existentes (Pasillo 1, 2; Racks 4, 5, 6).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Niveles 1 y 2: Picking manual a pie de alta rotación.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Niveles 3 al 6: Buffer de reserva para montacargas.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✂️ Mesas &amp; Carros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Integración en Mesas 2, 3 y 5 con contadores mecánicos.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Carros rodantes ('burros') para Batch Picking.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Impresoras térmicas de etiquetas HU por rollo y retazo.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Criterios de Calidad: 10 Casos de Prueba Punta a Punta (UAT)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Validación formal por área antes de la salida a producción definitiva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📋 Casos UAT Operativos (Almacén / ATC)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UAT-01: Recepción de rollos con etiqueta térmica HU.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UAT-02: Calificación A-D y bloqueo de rollos con tara.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UAT-03: Slotting en Nave Atlas (Picking a pie vs Altura).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UAT-04: Reserva de stock en ATC y préstamo de libros muestrarios.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UAT-05: Surtido por carro rodante ('burro') en batch.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UAT-06: Corte en mesas con enrolladora y trazabilidad del retazo.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📋 Casos UAT Gestión (Facturación / Plan)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UAT-07: Timbrado CFDI 4.0 vía CSFacturación post-corte exacto.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UAT-08: Motor de Resurtido automático con 13 meses CONTPAQi.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UAT-09: Convivencia armónica de Zona Blanca y Zona Gris.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UAT-10: Operación continua de Zebra TC22 con polvo textil y guantes.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✅ Cada caso cuenta con acta de aprobación firmada por el usuario clave.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Gobernanza del Proyecto: Roles Claros para el Éxito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Matriz RACI de corresponsabilidad entre Formatex y Movida TCI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🏢 Formatex (Dirección / Andrea / Áreas)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Aprobación de SOW, condiciones y liberación de hitos.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Asistencia obligatoria de líderes a las 5 entrevistas.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Facilitación de catálogos y reportes históricos de CONTPAQi.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Coordinación de rotulación física de racks en Nave Atlas.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Designación de un 'Champion de Almacén' para liderar el cambio.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Ejecución y firma de actas de aceptación UAT.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💻 Movida TCI (Jonathan Palacios &amp; Equipo)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Liderazgo técnico, arquitectura y desarrollo de software.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Conducción de las 5 entrevistas de revalidación con prototipo.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Configuración de entornos Cloud (Supabase, Render, Vercel).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Integración de CSFacturación para timbrado CFDI 4.0.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Capacitación en piso a operadores y soporte técnico.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Acompañamiento presencial/remoto en arranque en frío e Hypercare.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Estructura de Inversión y Condiciones de Pago por Hito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5 Hitos estrictamente vinculados a entregables verificables según SOW ($290,000 MXN + IVA)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931920"/>
                <a:gridCol w="1371600"/>
                <a:gridCol w="1463040"/>
                <a:gridCol w="1005840"/>
              </a:tblGrid>
              <a:tr h="600891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Hito / Concepto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Condición de Pago (Gatillo)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Plazo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Importe (MXN)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% Total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1. Anticipo WMS 360+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Inicio formal del proyecto y movilización del equipo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Semana 1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$52,000 + IVA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17.9%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2. Consultoría y Revalidación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Finalización de 5 entrevistas y firma de actas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Semana 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$30,000 + IVA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10.3%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3. Pruebas Funcionales Core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Entrega de WMS funcional para pruebas de laboratorio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Semana 12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$52,000 + IVA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17.9%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4. Preparación Go-Live Bodega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Carga de datos maestros, hardware y arranque en frío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Semana 16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$104,000 + IVA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35.9%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5. Aceptación Final y Cierre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Go-Live 100%, pruebas UAT concluidas y firma de acta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Semana 24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$52,000 + IVA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17.9%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TOTAL PROYECTO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Proyecto Integral Llave en Mano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24 Semanas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$290,000 + IVA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Plan de Acción Inmediato: Arranque en la Semana 1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Listos para movilizar al equipo desde el día uno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📋 Siguientes Pasos Inmediatos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1. Firma formal del SOW (Revisión v1.1) por ambas partes.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2. Liquidación del Anticipo WMS 360+ (Hito 1: $52,000 + IVA).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3. Convocatoria por calendario para las 5 sesiones de videollamada.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4. Solicitud a TI / Contabilidad para extracción inicial de CONTPAQi.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5. Sesión de Kickoff de apertura y primera entrevista con Almacén.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🤝 Compromiso de Movida TCI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El prototipo visual ya demostró que la solución es viable.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Acompañamiento cercano tanto directivo como operativo en piso.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Entrega con rigor de ingeniería de software y cero improvisaciones.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Transformación digital con Cero Paros en sus ventas.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¿Preguntas o comentarios de la directiva?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